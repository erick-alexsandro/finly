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S3grglNewCfUJHrklxJzJjLOw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63e5f2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ec63e5f23d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c63e5f23d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392f1e7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ec392f1e7e_0_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c392f1e7e_0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c392f1e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ec392f1e7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c392f1e7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c392f1e7e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ec392f1e7e_0_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c392f1e7e_0_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486400" y="-731520"/>
            <a:ext cx="4572000" cy="4572000"/>
          </a:xfrm>
          <a:prstGeom prst="ellipse">
            <a:avLst/>
          </a:prstGeom>
          <a:solidFill>
            <a:srgbClr val="0D9488">
              <a:alpha val="12160"/>
            </a:srgbClr>
          </a:solidFill>
          <a:ln w="12700" cap="flat" cmpd="sng">
            <a:solidFill>
              <a:srgbClr val="0D948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6400800" y="365760"/>
            <a:ext cx="2743200" cy="2743200"/>
          </a:xfrm>
          <a:prstGeom prst="ellipse">
            <a:avLst/>
          </a:prstGeom>
          <a:solidFill>
            <a:srgbClr val="0D9488">
              <a:alpha val="25099"/>
            </a:srgbClr>
          </a:solidFill>
          <a:ln w="12700" cap="flat" cmpd="sng">
            <a:solidFill>
              <a:srgbClr val="0D948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502920" y="822960"/>
            <a:ext cx="2560320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502920" y="82296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HEALTHTECH · GESTÃO ODONTOLÓGICA · SaaS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118872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SmileCorp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2331720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 evolução da gestão odontológica através de um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ecossistema digital integrado de Agenda, Estoque e Financeiro.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3429000"/>
            <a:ext cx="1554600" cy="292500"/>
          </a:xfrm>
          <a:prstGeom prst="rect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0D9488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342900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Java / Spring Boot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194560" y="3429000"/>
            <a:ext cx="1554480" cy="292608"/>
          </a:xfrm>
          <a:prstGeom prst="rect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0D9488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194560" y="342900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86200" y="3429000"/>
            <a:ext cx="1554480" cy="292608"/>
          </a:xfrm>
          <a:prstGeom prst="rect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0D9488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86200" y="342900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7" y="3840475"/>
            <a:ext cx="4937700" cy="274200"/>
          </a:xfrm>
          <a:prstGeom prst="rect">
            <a:avLst/>
          </a:prstGeom>
          <a:solidFill>
            <a:srgbClr val="06B6D4">
              <a:alpha val="25099"/>
            </a:srgbClr>
          </a:solidFill>
          <a:ln w="12700" cap="flat" cmpd="sng">
            <a:solidFill>
              <a:srgbClr val="06B6D4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02927" y="3840475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Parceria: Gran Palato Odontologia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74320" y="4754880"/>
            <a:ext cx="86868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Vitor  ·  Erick Alexsandro  ·  Samara Alves  —  Ciência da Computação · UNA Contagem ·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1335" y="766288"/>
            <a:ext cx="1942126" cy="19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12156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7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2156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457200" y="274320"/>
            <a:ext cx="1554480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457200" y="2743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DE GESTÃO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pessoas por trás da SmileCorp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Ciência da Computação · Centro Universitário UNA Contagem ·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347472" y="1627632"/>
            <a:ext cx="2633472" cy="3246120"/>
          </a:xfrm>
          <a:prstGeom prst="rect">
            <a:avLst/>
          </a:prstGeom>
          <a:solidFill>
            <a:srgbClr val="FFFFFF">
              <a:alpha val="5882"/>
            </a:srgbClr>
          </a:solidFill>
          <a:ln w="12700" cap="flat" cmpd="sng">
            <a:solidFill>
              <a:srgbClr val="0D948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1298448" y="1755648"/>
            <a:ext cx="731520" cy="731520"/>
          </a:xfrm>
          <a:prstGeom prst="ellipse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347472" y="26334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Vitor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347472" y="301752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RA: 42322666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7472" y="329184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Desenvolvedor Fullstack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475488" y="3630168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Atuou igualmente no levantamento de requisitos, mapeamento do sistema e desenvolvimento fullstack com Java/Spring Boot e Next.js.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3200400" y="1627632"/>
            <a:ext cx="2633472" cy="3246120"/>
          </a:xfrm>
          <a:prstGeom prst="rect">
            <a:avLst/>
          </a:prstGeom>
          <a:solidFill>
            <a:srgbClr val="FFFFFF">
              <a:alpha val="5882"/>
            </a:srgbClr>
          </a:solidFill>
          <a:ln w="12700" cap="flat" cmpd="sng">
            <a:solidFill>
              <a:srgbClr val="0D948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4151376" y="1755648"/>
            <a:ext cx="731520" cy="731520"/>
          </a:xfrm>
          <a:prstGeom prst="ellipse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240" y="1810512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3200400" y="26334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Erick Alexsandro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3200400" y="301752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RA: 42320598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3200400" y="329184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Desenvolvedor Fullstack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3328416" y="3630168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Atuou igualmente no levantamento de requisitos, mapeamento do sistema e desenvolvimento fullstack com Java/Spring Boot e Next.js.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6053328" y="1627632"/>
            <a:ext cx="2633472" cy="3246120"/>
          </a:xfrm>
          <a:prstGeom prst="rect">
            <a:avLst/>
          </a:prstGeom>
          <a:solidFill>
            <a:srgbClr val="FFFFFF">
              <a:alpha val="5882"/>
            </a:srgbClr>
          </a:solidFill>
          <a:ln w="12700" cap="flat" cmpd="sng">
            <a:solidFill>
              <a:srgbClr val="0D948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7004304" y="1755648"/>
            <a:ext cx="731520" cy="731520"/>
          </a:xfrm>
          <a:prstGeom prst="ellipse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810512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6053328" y="26334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Samara Alves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053328" y="301752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RA: 42320285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053328" y="329184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Desenvolvedora Fullstack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181344" y="3630168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Atuou igualmente no levantamento de requisitos, mapeamento do sistema e desenvolvimento fullstack com Java/Spring Boot e Next.js.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1413" y="1738612"/>
            <a:ext cx="765600" cy="76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6113" y="1717450"/>
            <a:ext cx="807900" cy="80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7" title="puthc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4512" y="1710264"/>
            <a:ext cx="822300" cy="822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DESAFIOS COMUNS NA GESTÃO ODONTOLÓGICA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Cenário identificado na parceria com a Gran Palato Odontologia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20040" y="1371600"/>
            <a:ext cx="402336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20040" y="1371600"/>
            <a:ext cx="64008" cy="15544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1097280" y="153619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Visibilidade financeira limitada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097280" y="1883664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 um fluxo de caixa integrado, pode ser difícil acompanhar em tempo real todas as receitas e despesas — o que torna a tomada de decisão menos ágil.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09160" y="1371600"/>
            <a:ext cx="402336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09160" y="1371600"/>
            <a:ext cx="64008" cy="15544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5486400" y="153619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Controle de estoque manual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486400" y="1883664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monitoramento de insumos feito de forma manual exige atenção constante da equipe e pode gerar desabastecimentos inesperados durante os atendimentos.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20040" y="3108960"/>
            <a:ext cx="402336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20040" y="3108960"/>
            <a:ext cx="64008" cy="15544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3611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1097280" y="32735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Ferramentas pouco integradas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097280" y="3621024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Muitas soluções do mercado atendem bem a uma parte da gestão, mas deixam lacunas entre o controle clínico, o estoque e o financeiro.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4709160" y="3108960"/>
            <a:ext cx="402336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4709160" y="3108960"/>
            <a:ext cx="64008" cy="15544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3611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5486400" y="32735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Comunicação entre setores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486400" y="3621024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Recepção, equipe clínica e administração muitas vezes precisam de canais mais ágeis para manter as informações alinhadas e evitar retrabalho.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10196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D9488">
              <a:alpha val="14901"/>
            </a:srgbClr>
          </a:solidFill>
          <a:ln w="12700" cap="flat" cmpd="sng">
            <a:solidFill>
              <a:srgbClr val="0D948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PROPOSTA DE VALOR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713232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ecossistema SaaS que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unifica Agenda, Estoque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Caixa em tempo real.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2606040"/>
            <a:ext cx="41148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 SmileCorp elimina falhas humanas com automação invisível: a baixa de material ocorre automaticamente ao registrar o procedimento, o caixa é atualizado em tempo real e os relatórios cruzam custos reais com receitas — sem planilhas, sem retrabalho.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46320" y="914400"/>
            <a:ext cx="1261872" cy="3200400"/>
          </a:xfrm>
          <a:prstGeom prst="rect">
            <a:avLst/>
          </a:prstGeom>
          <a:solidFill>
            <a:srgbClr val="FFFFFF">
              <a:alpha val="7843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846320" y="1280160"/>
            <a:ext cx="1261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846320" y="2103120"/>
            <a:ext cx="126187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Multi-tenancy: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isolados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clínica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263640" y="914400"/>
            <a:ext cx="1261872" cy="3200400"/>
          </a:xfrm>
          <a:prstGeom prst="rect">
            <a:avLst/>
          </a:prstGeom>
          <a:solidFill>
            <a:srgbClr val="FFFFFF">
              <a:alpha val="7843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263640" y="1280160"/>
            <a:ext cx="1261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263640" y="2103120"/>
            <a:ext cx="126187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 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acesso por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de cargo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680960" y="914400"/>
            <a:ext cx="1261872" cy="3200400"/>
          </a:xfrm>
          <a:prstGeom prst="rect">
            <a:avLst/>
          </a:prstGeom>
          <a:solidFill>
            <a:srgbClr val="FFFFFF">
              <a:alpha val="7843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680960" y="1280160"/>
            <a:ext cx="1261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360°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680960" y="2103120"/>
            <a:ext cx="126187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integrada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toda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MOLHO SECRETO DA SMILECORP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280160" y="1234440"/>
            <a:ext cx="731520" cy="73152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8450" y="1392725"/>
            <a:ext cx="414925" cy="4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384048" y="2084832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Projeção de Receita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Gestão Financeira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4048" y="2816352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 com Projeção de Fluxo de Caixa, Margem por Procedimento e CMV integrados. O gestor deixa de trabalhar com estimativas e passa a guiar a clínica por indicadores reais de desempenho — sem planilhas soltas.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82112" y="1051560"/>
            <a:ext cx="2743200" cy="374904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187952" y="1234440"/>
            <a:ext cx="731520" cy="73152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6250" y="1392737"/>
            <a:ext cx="414925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3291840" y="2084832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Estoque com Baixa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291840" y="2816352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registrar o procedimento no prontuário digital, o sistema debita os insumos do estoque automaticamente. Alertas de reposição autônomos antes de atingir nível crítico. Rastreabilidade de lotes e validade conforme ANVISA.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089904" y="1051560"/>
            <a:ext cx="2743200" cy="374904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095744" y="1234440"/>
            <a:ext cx="731520" cy="73152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023" y="1392744"/>
            <a:ext cx="414925" cy="41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6199632" y="2084832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Usabilidade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199632" y="2816352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com acesso por perfil (RBAC): Recepção, Equipe Clínica e Administrador. Fluxos otimizados para uso sem treinamento complexo. Arquitetura multitenancy SaaS permite múltiplas clínicas isoladas na mesma plataforma.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63e5f23d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ec63e5f23d_0_0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ARQUITETURA E ESTRUTURA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c63e5f23d_0_0"/>
          <p:cNvSpPr/>
          <p:nvPr/>
        </p:nvSpPr>
        <p:spPr>
          <a:xfrm>
            <a:off x="83300" y="1117050"/>
            <a:ext cx="4023300" cy="1194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ec63e5f23d_0_0"/>
          <p:cNvSpPr/>
          <p:nvPr/>
        </p:nvSpPr>
        <p:spPr>
          <a:xfrm>
            <a:off x="83299" y="1117050"/>
            <a:ext cx="63900" cy="1194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c63e5f23d_0_0"/>
          <p:cNvSpPr/>
          <p:nvPr/>
        </p:nvSpPr>
        <p:spPr>
          <a:xfrm>
            <a:off x="407155" y="1085942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Backend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4" name="Google Shape;144;g3ec63e5f23d_0_0"/>
          <p:cNvSpPr/>
          <p:nvPr/>
        </p:nvSpPr>
        <p:spPr>
          <a:xfrm>
            <a:off x="407150" y="1419450"/>
            <a:ext cx="33033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Java 21 + Spring Boot 3.5 com Maven. Estrutura em camadas: controller → service → repository → entity → dto. Neon Auth. Tecnologias: Java 21, Spring Boot, Maven. </a:t>
            </a:r>
            <a:endParaRPr sz="1100">
              <a:solidFill>
                <a:srgbClr val="64748B"/>
              </a:solidFill>
            </a:endParaRPr>
          </a:p>
        </p:txBody>
      </p:sp>
      <p:sp>
        <p:nvSpPr>
          <p:cNvPr id="145" name="Google Shape;145;g3ec63e5f23d_0_0"/>
          <p:cNvSpPr/>
          <p:nvPr/>
        </p:nvSpPr>
        <p:spPr>
          <a:xfrm>
            <a:off x="83300" y="2455725"/>
            <a:ext cx="4023300" cy="126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ec63e5f23d_0_0"/>
          <p:cNvSpPr/>
          <p:nvPr/>
        </p:nvSpPr>
        <p:spPr>
          <a:xfrm>
            <a:off x="83300" y="2455725"/>
            <a:ext cx="63900" cy="1261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c63e5f23d_0_0"/>
          <p:cNvSpPr/>
          <p:nvPr/>
        </p:nvSpPr>
        <p:spPr>
          <a:xfrm>
            <a:off x="407155" y="2455727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00" b="1">
                <a:solidFill>
                  <a:srgbClr val="1A2B4A"/>
                </a:solidFill>
              </a:rPr>
              <a:t>Frontend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8" name="Google Shape;148;g3ec63e5f23d_0_0"/>
          <p:cNvSpPr/>
          <p:nvPr/>
        </p:nvSpPr>
        <p:spPr>
          <a:xfrm>
            <a:off x="407150" y="2735725"/>
            <a:ext cx="315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Next.js + TypeScript + React 19 com App Router. UI construída com shadcn/ui sobre Tailwind CSS 4. Proxy interno para comunicação com o backend. Tecnologias: Next.js, TypeScript, React 19, Tailwind.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9" name="Google Shape;149;g3ec63e5f23d_0_0"/>
          <p:cNvSpPr/>
          <p:nvPr/>
        </p:nvSpPr>
        <p:spPr>
          <a:xfrm>
            <a:off x="642775" y="3896150"/>
            <a:ext cx="7644000" cy="116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c63e5f23d_0_0"/>
          <p:cNvSpPr/>
          <p:nvPr/>
        </p:nvSpPr>
        <p:spPr>
          <a:xfrm>
            <a:off x="674550" y="3966813"/>
            <a:ext cx="3254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lang="en-US" sz="1200" b="1">
                <a:solidFill>
                  <a:srgbClr val="1A2B4A"/>
                </a:solidFill>
              </a:rPr>
              <a:t>Infraestrutura e Deploy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1" name="Google Shape;151;g3ec63e5f23d_0_0"/>
          <p:cNvSpPr/>
          <p:nvPr/>
        </p:nvSpPr>
        <p:spPr>
          <a:xfrm>
            <a:off x="905075" y="4366700"/>
            <a:ext cx="6972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Frontend hospedado na Vercel (smile-corp.vercel.app) · Backend no Render · Banco serverless no Neon. Stack distribuída, ideal para SaaS com múltiplas clínicas isoladas na mesma plataforma.                   Tecnologias: Vercel, Render, Neon, SaaS, RBAC.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52" name="Google Shape;152;g3ec63e5f23d_0_0"/>
          <p:cNvSpPr/>
          <p:nvPr/>
        </p:nvSpPr>
        <p:spPr>
          <a:xfrm>
            <a:off x="5001850" y="1117050"/>
            <a:ext cx="4023300" cy="1194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c63e5f23d_0_0"/>
          <p:cNvSpPr/>
          <p:nvPr/>
        </p:nvSpPr>
        <p:spPr>
          <a:xfrm>
            <a:off x="5325705" y="1085942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Banco de Dados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4" name="Google Shape;154;g3ec63e5f23d_0_0"/>
          <p:cNvSpPr/>
          <p:nvPr/>
        </p:nvSpPr>
        <p:spPr>
          <a:xfrm>
            <a:off x="5325700" y="1465900"/>
            <a:ext cx="35175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PostgreSQL serverless via Neon, com multitenancy por contexto de tenant (TenantContext). Tecnologias: PostgreSQL, Neon, Multitenancy.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55" name="Google Shape;155;g3ec63e5f23d_0_0"/>
          <p:cNvSpPr/>
          <p:nvPr/>
        </p:nvSpPr>
        <p:spPr>
          <a:xfrm>
            <a:off x="4979500" y="2489475"/>
            <a:ext cx="4023300" cy="1194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c63e5f23d_0_0"/>
          <p:cNvSpPr/>
          <p:nvPr/>
        </p:nvSpPr>
        <p:spPr>
          <a:xfrm>
            <a:off x="5325705" y="2473917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dk1"/>
                </a:solidFill>
              </a:rPr>
              <a:t>Testes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7" name="Google Shape;157;g3ec63e5f23d_0_0"/>
          <p:cNvSpPr/>
          <p:nvPr/>
        </p:nvSpPr>
        <p:spPr>
          <a:xfrm>
            <a:off x="5339500" y="2735725"/>
            <a:ext cx="3303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Três camadas: JUnit (unitários), Cucumber (BDD com cenários em linguagem natural) e Playwright (E2E no frontend). Documentação de testes em docs/testes/. Tecnologias: JUnit, Cucumber, Playwright. </a:t>
            </a:r>
            <a:endParaRPr sz="1100">
              <a:solidFill>
                <a:srgbClr val="64748B"/>
              </a:solidFill>
            </a:endParaRPr>
          </a:p>
        </p:txBody>
      </p:sp>
      <p:sp>
        <p:nvSpPr>
          <p:cNvPr id="158" name="Google Shape;158;g3ec63e5f23d_0_0"/>
          <p:cNvSpPr/>
          <p:nvPr/>
        </p:nvSpPr>
        <p:spPr>
          <a:xfrm>
            <a:off x="4937949" y="2505025"/>
            <a:ext cx="63900" cy="1194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ec63e5f23d_0_0"/>
          <p:cNvSpPr/>
          <p:nvPr/>
        </p:nvSpPr>
        <p:spPr>
          <a:xfrm>
            <a:off x="4937949" y="1117050"/>
            <a:ext cx="63900" cy="1194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c63e5f23d_0_0"/>
          <p:cNvSpPr/>
          <p:nvPr/>
        </p:nvSpPr>
        <p:spPr>
          <a:xfrm rot="5400000">
            <a:off x="4431200" y="51950"/>
            <a:ext cx="103500" cy="76506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392f1e7e_0_3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ec392f1e7e_0_33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 DE USABILIDADE - CLIENTE FINAL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c392f1e7e_0_33"/>
          <p:cNvSpPr/>
          <p:nvPr/>
        </p:nvSpPr>
        <p:spPr>
          <a:xfrm>
            <a:off x="869700" y="1266100"/>
            <a:ext cx="3623700" cy="10203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ec392f1e7e_0_33"/>
          <p:cNvSpPr/>
          <p:nvPr/>
        </p:nvSpPr>
        <p:spPr>
          <a:xfrm>
            <a:off x="869700" y="1621900"/>
            <a:ext cx="36237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None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Validar navegação nos módulos Atendimentos, Financeiro e Estoque</a:t>
            </a: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c392f1e7e_0_33"/>
          <p:cNvSpPr/>
          <p:nvPr/>
        </p:nvSpPr>
        <p:spPr>
          <a:xfrm>
            <a:off x="869688" y="2380238"/>
            <a:ext cx="3623700" cy="10203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c392f1e7e_0_33"/>
          <p:cNvSpPr/>
          <p:nvPr/>
        </p:nvSpPr>
        <p:spPr>
          <a:xfrm>
            <a:off x="869663" y="2736213"/>
            <a:ext cx="36237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None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Dono/Administrador da clínica em ambiente real. </a:t>
            </a: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c392f1e7e_0_33"/>
          <p:cNvSpPr/>
          <p:nvPr/>
        </p:nvSpPr>
        <p:spPr>
          <a:xfrm>
            <a:off x="869675" y="3494398"/>
            <a:ext cx="3623700" cy="14475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ec392f1e7e_0_33"/>
          <p:cNvSpPr/>
          <p:nvPr/>
        </p:nvSpPr>
        <p:spPr>
          <a:xfrm>
            <a:off x="817625" y="3862500"/>
            <a:ext cx="3727800" cy="10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b" anchorCtr="0">
            <a:noAutofit/>
          </a:bodyPr>
          <a:lstStyle/>
          <a:p>
            <a:pPr marL="457200" lvl="0" indent="-322979" algn="just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13 tarefas concluídas com sucesso.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979" algn="just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Tempo médio: ~1 min por operação.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979" algn="just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Erros mínimos (latência e hesitação pontual).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c392f1e7e_0_33"/>
          <p:cNvSpPr/>
          <p:nvPr/>
        </p:nvSpPr>
        <p:spPr>
          <a:xfrm>
            <a:off x="4985725" y="3494400"/>
            <a:ext cx="3623700" cy="14475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ec392f1e7e_0_33"/>
          <p:cNvSpPr/>
          <p:nvPr/>
        </p:nvSpPr>
        <p:spPr>
          <a:xfrm>
            <a:off x="4985725" y="3803250"/>
            <a:ext cx="36237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ctr" anchorCtr="0">
            <a:noAutofit/>
          </a:bodyPr>
          <a:lstStyle/>
          <a:p>
            <a:pPr marL="457200" lvl="0" indent="-322979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Loaders globais em requisições.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979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Toast Notifications pós-ação.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979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Char char="●"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Otimização de queries serverless.</a:t>
            </a:r>
            <a:endParaRPr sz="1486">
              <a:solidFill>
                <a:srgbClr val="1A2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c392f1e7e_0_33"/>
          <p:cNvSpPr/>
          <p:nvPr/>
        </p:nvSpPr>
        <p:spPr>
          <a:xfrm>
            <a:off x="4985725" y="1266100"/>
            <a:ext cx="3623700" cy="10203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ec392f1e7e_0_33"/>
          <p:cNvSpPr/>
          <p:nvPr/>
        </p:nvSpPr>
        <p:spPr>
          <a:xfrm>
            <a:off x="4985725" y="1621900"/>
            <a:ext cx="36237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None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Interface intuitiva, integração automática entre módulos. </a:t>
            </a: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c392f1e7e_0_33"/>
          <p:cNvSpPr/>
          <p:nvPr/>
        </p:nvSpPr>
        <p:spPr>
          <a:xfrm>
            <a:off x="4985725" y="2380255"/>
            <a:ext cx="3623700" cy="1020300"/>
          </a:xfrm>
          <a:prstGeom prst="rect">
            <a:avLst/>
          </a:prstGeom>
          <a:solidFill>
            <a:srgbClr val="FFFFFF"/>
          </a:solidFill>
          <a:ln w="179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79770" dist="53931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</p:txBody>
      </p:sp>
      <p:sp>
        <p:nvSpPr>
          <p:cNvPr id="179" name="Google Shape;179;g3ec392f1e7e_0_33"/>
          <p:cNvSpPr/>
          <p:nvPr/>
        </p:nvSpPr>
        <p:spPr>
          <a:xfrm>
            <a:off x="4985736" y="2699025"/>
            <a:ext cx="36237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64700" rIns="129425" bIns="64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86"/>
              <a:buFont typeface="Calibri"/>
              <a:buNone/>
            </a:pPr>
            <a:r>
              <a:rPr lang="en-US" sz="1486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Ajustes apenas cosméticos, sem impacto nas regras de negócio. </a:t>
            </a: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c392f1e7e_0_33"/>
          <p:cNvSpPr/>
          <p:nvPr/>
        </p:nvSpPr>
        <p:spPr>
          <a:xfrm>
            <a:off x="3124995" y="1083543"/>
            <a:ext cx="91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c392f1e7e_0_33"/>
          <p:cNvSpPr/>
          <p:nvPr/>
        </p:nvSpPr>
        <p:spPr>
          <a:xfrm>
            <a:off x="6031762" y="1083543"/>
            <a:ext cx="91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c392f1e7e_0_33"/>
          <p:cNvSpPr/>
          <p:nvPr/>
        </p:nvSpPr>
        <p:spPr>
          <a:xfrm>
            <a:off x="218245" y="1083543"/>
            <a:ext cx="91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c392f1e7e_0_33"/>
          <p:cNvSpPr/>
          <p:nvPr/>
        </p:nvSpPr>
        <p:spPr>
          <a:xfrm>
            <a:off x="869675" y="1266100"/>
            <a:ext cx="3623700" cy="355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Objetivo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4" name="Google Shape;184;g3ec392f1e7e_0_33"/>
          <p:cNvSpPr/>
          <p:nvPr/>
        </p:nvSpPr>
        <p:spPr>
          <a:xfrm>
            <a:off x="869688" y="2380238"/>
            <a:ext cx="3623700" cy="355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Participante</a:t>
            </a:r>
            <a:endParaRPr/>
          </a:p>
        </p:txBody>
      </p:sp>
      <p:sp>
        <p:nvSpPr>
          <p:cNvPr id="185" name="Google Shape;185;g3ec392f1e7e_0_33"/>
          <p:cNvSpPr/>
          <p:nvPr/>
        </p:nvSpPr>
        <p:spPr>
          <a:xfrm>
            <a:off x="869675" y="3494400"/>
            <a:ext cx="3623700" cy="355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Resultados</a:t>
            </a:r>
            <a:endParaRPr/>
          </a:p>
        </p:txBody>
      </p:sp>
      <p:sp>
        <p:nvSpPr>
          <p:cNvPr id="186" name="Google Shape;186;g3ec392f1e7e_0_33"/>
          <p:cNvSpPr/>
          <p:nvPr/>
        </p:nvSpPr>
        <p:spPr>
          <a:xfrm>
            <a:off x="4985725" y="3494400"/>
            <a:ext cx="3623700" cy="355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Melhorias</a:t>
            </a:r>
            <a:endParaRPr/>
          </a:p>
        </p:txBody>
      </p:sp>
      <p:sp>
        <p:nvSpPr>
          <p:cNvPr id="187" name="Google Shape;187;g3ec392f1e7e_0_33"/>
          <p:cNvSpPr/>
          <p:nvPr/>
        </p:nvSpPr>
        <p:spPr>
          <a:xfrm>
            <a:off x="4985725" y="1266100"/>
            <a:ext cx="3623700" cy="3558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Pontos positivos</a:t>
            </a:r>
            <a:endParaRPr/>
          </a:p>
        </p:txBody>
      </p:sp>
      <p:sp>
        <p:nvSpPr>
          <p:cNvPr id="188" name="Google Shape;188;g3ec392f1e7e_0_33"/>
          <p:cNvSpPr/>
          <p:nvPr/>
        </p:nvSpPr>
        <p:spPr>
          <a:xfrm>
            <a:off x="4985736" y="2380250"/>
            <a:ext cx="3623700" cy="318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Veredito: GO - Sistema aprovado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392f1e7e_0_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12160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c392f1e7e_0_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2160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ec392f1e7e_0_0"/>
          <p:cNvSpPr/>
          <p:nvPr/>
        </p:nvSpPr>
        <p:spPr>
          <a:xfrm>
            <a:off x="457200" y="274320"/>
            <a:ext cx="1554600" cy="274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c392f1e7e_0_0"/>
          <p:cNvSpPr/>
          <p:nvPr/>
        </p:nvSpPr>
        <p:spPr>
          <a:xfrm>
            <a:off x="457200" y="27432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c392f1e7e_0_0"/>
          <p:cNvSpPr/>
          <p:nvPr/>
        </p:nvSpPr>
        <p:spPr>
          <a:xfrm>
            <a:off x="457200" y="6400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Lições Aprendidas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c392f1e7e_0_0"/>
          <p:cNvSpPr/>
          <p:nvPr/>
        </p:nvSpPr>
        <p:spPr>
          <a:xfrm>
            <a:off x="457200" y="117043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 jornada de desenvolvimento do SmileCorp transformou desafios técnicos e falhas de planejamento em pilares de maturidade em Engenharia de Software, redefinindo nossa visão sobre arquitetura, processos e usabilidade.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ec392f1e7e_0_0"/>
          <p:cNvSpPr/>
          <p:nvPr/>
        </p:nvSpPr>
        <p:spPr>
          <a:xfrm>
            <a:off x="347472" y="1627632"/>
            <a:ext cx="2633400" cy="32460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c392f1e7e_0_0"/>
          <p:cNvSpPr/>
          <p:nvPr/>
        </p:nvSpPr>
        <p:spPr>
          <a:xfrm>
            <a:off x="347475" y="1965365"/>
            <a:ext cx="2633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Importância do Planejamento Arquitetural Antecipado (Design First)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c392f1e7e_0_0"/>
          <p:cNvSpPr/>
          <p:nvPr/>
        </p:nvSpPr>
        <p:spPr>
          <a:xfrm>
            <a:off x="475350" y="2678975"/>
            <a:ext cx="2377500" cy="20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Lição: Desenvolver o agendamento antes de estruturar a autenticação nos ensinou que a segurança e o modelo de negócio (SaaS Multitenancy) devem ser definidos na base do projeto. A falta desse planejamento inicial custou tempo de refatoração da API, consolidando a importância de uma modelagem prévia e robusta.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c392f1e7e_0_0"/>
          <p:cNvSpPr/>
          <p:nvPr/>
        </p:nvSpPr>
        <p:spPr>
          <a:xfrm>
            <a:off x="3200400" y="1627632"/>
            <a:ext cx="2633400" cy="32460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ec392f1e7e_0_0"/>
          <p:cNvSpPr/>
          <p:nvPr/>
        </p:nvSpPr>
        <p:spPr>
          <a:xfrm>
            <a:off x="3200400" y="1965364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Imersão no Cliente e Validação da Dor Real vs. Suposições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c392f1e7e_0_0"/>
          <p:cNvSpPr/>
          <p:nvPr/>
        </p:nvSpPr>
        <p:spPr>
          <a:xfrm>
            <a:off x="3328425" y="2743200"/>
            <a:ext cx="2377500" cy="20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Lição: Aprendemos que nem todo problema de sistema se resolve com um design bonito. Inicialmente focados apenas na interface, a imersão na Gran Palato Odontologia provou que os gargalos reais eram falhas crônicas de comunicação interna e falta de automação (como a integração entre o consultório e o caixa), mudando o nosso foco de "layout" para "engenharia de processos".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c392f1e7e_0_0"/>
          <p:cNvSpPr/>
          <p:nvPr/>
        </p:nvSpPr>
        <p:spPr>
          <a:xfrm>
            <a:off x="6053328" y="1627632"/>
            <a:ext cx="2633400" cy="32460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ec392f1e7e_0_0"/>
          <p:cNvSpPr/>
          <p:nvPr/>
        </p:nvSpPr>
        <p:spPr>
          <a:xfrm>
            <a:off x="6053325" y="1965364"/>
            <a:ext cx="2633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Gerenciamento de Escopo e Viabilidade de Entrega (MVP)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c392f1e7e_0_0"/>
          <p:cNvSpPr/>
          <p:nvPr/>
        </p:nvSpPr>
        <p:spPr>
          <a:xfrm>
            <a:off x="6181350" y="2817630"/>
            <a:ext cx="2377500" cy="19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Lição: Compreendemos o valor do conceito de MVP (Minimum Viable Product). A intenção inicial de criar um motor complexo de IA para o estoque precisou ser recalibrada devido ao tempo. Aprendemos a priorizar o que era vital para o funcionamento do ecossistema (Agenda, Estoque básico e Caixa) em detrimento de recursos avançados, garantindo uma entrega funcional e realista no prazo.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392f1e7e_0_99"/>
          <p:cNvSpPr/>
          <p:nvPr/>
        </p:nvSpPr>
        <p:spPr>
          <a:xfrm>
            <a:off x="-1808400" y="2812750"/>
            <a:ext cx="3657600" cy="3657600"/>
          </a:xfrm>
          <a:prstGeom prst="ellipse">
            <a:avLst/>
          </a:prstGeom>
          <a:solidFill>
            <a:srgbClr val="0D9488">
              <a:alpha val="12160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c392f1e7e_0_99"/>
          <p:cNvSpPr/>
          <p:nvPr/>
        </p:nvSpPr>
        <p:spPr>
          <a:xfrm>
            <a:off x="7201350" y="-1171600"/>
            <a:ext cx="3200400" cy="3200400"/>
          </a:xfrm>
          <a:prstGeom prst="ellipse">
            <a:avLst/>
          </a:prstGeom>
          <a:solidFill>
            <a:srgbClr val="0D9488">
              <a:alpha val="12160"/>
            </a:srgbClr>
          </a:solidFill>
          <a:ln w="12700" cap="flat" cmpd="sng">
            <a:solidFill>
              <a:srgbClr val="0D948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ec392f1e7e_0_99"/>
          <p:cNvSpPr/>
          <p:nvPr/>
        </p:nvSpPr>
        <p:spPr>
          <a:xfrm>
            <a:off x="457200" y="274320"/>
            <a:ext cx="1554600" cy="274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ec392f1e7e_0_99"/>
          <p:cNvSpPr/>
          <p:nvPr/>
        </p:nvSpPr>
        <p:spPr>
          <a:xfrm>
            <a:off x="457200" y="27432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c392f1e7e_0_99"/>
          <p:cNvSpPr/>
          <p:nvPr/>
        </p:nvSpPr>
        <p:spPr>
          <a:xfrm>
            <a:off x="457200" y="6400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Viabilidade para comercialização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c392f1e7e_0_99"/>
          <p:cNvSpPr/>
          <p:nvPr/>
        </p:nvSpPr>
        <p:spPr>
          <a:xfrm>
            <a:off x="457200" y="135823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Para transitar de um protótipo acadêmico para uma solução comercial competitiva, o SmileCorp deve evoluir para um ecossistema de automação plena, integrando funcionalidades de alta complexidade que atendem 100%  à escala e às exigências de clínicas reais.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c392f1e7e_0_99"/>
          <p:cNvSpPr/>
          <p:nvPr/>
        </p:nvSpPr>
        <p:spPr>
          <a:xfrm>
            <a:off x="358550" y="2155752"/>
            <a:ext cx="2633400" cy="23856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ec392f1e7e_0_99"/>
          <p:cNvSpPr/>
          <p:nvPr/>
        </p:nvSpPr>
        <p:spPr>
          <a:xfrm>
            <a:off x="358550" y="2356576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Automação de Comunicação e Engajamento (WhatsApp/IA)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ec392f1e7e_0_99"/>
          <p:cNvSpPr/>
          <p:nvPr/>
        </p:nvSpPr>
        <p:spPr>
          <a:xfrm>
            <a:off x="486413" y="3098518"/>
            <a:ext cx="2377500" cy="1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Implementação de gatilhos automáticos para confirmação de consultas e lembretes de retorno via WhatsApp, reduzindo a taxa de absenteísmo sem intervenção manual da recepção.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c392f1e7e_0_99"/>
          <p:cNvSpPr/>
          <p:nvPr/>
        </p:nvSpPr>
        <p:spPr>
          <a:xfrm>
            <a:off x="3211475" y="2155752"/>
            <a:ext cx="2633400" cy="23856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ec392f1e7e_0_99"/>
          <p:cNvSpPr/>
          <p:nvPr/>
        </p:nvSpPr>
        <p:spPr>
          <a:xfrm>
            <a:off x="3211475" y="2356575"/>
            <a:ext cx="26334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Integração com Meios de Pagamento e Conciliação Bancária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c392f1e7e_0_99"/>
          <p:cNvSpPr/>
          <p:nvPr/>
        </p:nvSpPr>
        <p:spPr>
          <a:xfrm>
            <a:off x="3339416" y="3187143"/>
            <a:ext cx="2377500" cy="1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Conexão direta com gateways de pagamento (Pix, Cartão e Boleto) para que a baixa financeira no sistema ocorra instantaneamente no ato do pagamento, eliminando erros de conferência no fluxo de caixa.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c392f1e7e_0_99"/>
          <p:cNvSpPr/>
          <p:nvPr/>
        </p:nvSpPr>
        <p:spPr>
          <a:xfrm>
            <a:off x="6064400" y="2155752"/>
            <a:ext cx="2633400" cy="2385600"/>
          </a:xfrm>
          <a:prstGeom prst="rect">
            <a:avLst/>
          </a:prstGeom>
          <a:solidFill>
            <a:srgbClr val="FFFFFF">
              <a:alpha val="5880"/>
            </a:srgbClr>
          </a:solidFill>
          <a:ln w="12700" cap="flat" cmpd="sng">
            <a:solidFill>
              <a:srgbClr val="0D9488">
                <a:alpha val="451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ec392f1e7e_0_99"/>
          <p:cNvSpPr/>
          <p:nvPr/>
        </p:nvSpPr>
        <p:spPr>
          <a:xfrm>
            <a:off x="6064400" y="2356576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Inteligência Artificial Aplicada ao Financeiro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ec392f1e7e_0_99"/>
          <p:cNvSpPr/>
          <p:nvPr/>
        </p:nvSpPr>
        <p:spPr>
          <a:xfrm>
            <a:off x="6192419" y="3187143"/>
            <a:ext cx="2377500" cy="1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algoritmos preditivos (Machine Learning) para antecipar o fluxo de caixa dos próximos meses, identificar riscos de inadimplência antes do vencimento e analisar o consumo de materiais para sugerir o momento exato de compra com fornecedores parceiros.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6D4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FFFFFF">
              <a:alpha val="7843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48640" y="7315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SmileCorp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178308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Sorria. Sua clínica está em boas mãos.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822960" y="2514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SaaS Multitenancy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840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3566160" y="25146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Baixa automática de estoque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29169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822960" y="28803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Fluxo de caixa em tempo real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840" y="29169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3566160" y="28803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Parceria Gran Palato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39490" y="3401568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Vamos agendar uma demonstração?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" y="384048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smilecorpcontato@gmail.com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48640" y="4315968"/>
            <a:ext cx="2286000" cy="475488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48640" y="431596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Solicitar Demo Grátis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747" y="1092362"/>
            <a:ext cx="2527324" cy="252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Microsoft Office PowerPoint</Application>
  <PresentationFormat>Apresentação na tela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Samara Alves Gomes</cp:lastModifiedBy>
  <cp:revision>1</cp:revision>
  <dcterms:created xsi:type="dcterms:W3CDTF">2026-05-26T12:05:46Z</dcterms:created>
  <dcterms:modified xsi:type="dcterms:W3CDTF">2026-06-17T16:53:39Z</dcterms:modified>
</cp:coreProperties>
</file>